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62626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262626"/>
                </a:solidFill>
                <a:latin typeface="Calibri"/>
              </a:rPr>
              <a:t>R$ 100 reapostados: quanto sobra após n rodadas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Dinheiro esperado (R$)</c:v>
                </c:pt>
              </c:strCache>
            </c:strRef>
          </c:tx>
          <c:spPr>
            <a:solidFill>
              <a:srgbClr val="C00000"/>
            </a:solidFill>
            <a:ln w="25400" cap="flat">
              <a:solidFill>
                <a:srgbClr val="C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C00000"/>
              </a:solidFill>
              <a:ln w="9525" cap="flat">
                <a:solidFill>
                  <a:srgbClr val="C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0</c:v>
                  </c:pt>
                  <c:pt idx="1">
                    <c:v>5</c:v>
                  </c:pt>
                  <c:pt idx="2">
                    <c:v>10</c:v>
                  </c:pt>
                  <c:pt idx="3">
                    <c:v>15</c:v>
                  </c:pt>
                  <c:pt idx="4">
                    <c:v>20</c:v>
                  </c:pt>
                  <c:pt idx="5">
                    <c:v>25</c:v>
                  </c:pt>
                  <c:pt idx="6">
                    <c:v>30</c:v>
                  </c:pt>
                  <c:pt idx="7">
                    <c:v>35</c:v>
                  </c:pt>
                  <c:pt idx="8">
                    <c:v>40</c:v>
                  </c:pt>
                  <c:pt idx="9">
                    <c:v>45</c:v>
                  </c:pt>
                  <c:pt idx="10">
                    <c:v>50</c:v>
                  </c:pt>
                  <c:pt idx="11">
                    <c:v>55</c:v>
                  </c:pt>
                  <c:pt idx="12">
                    <c:v>60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85</c:v>
                </c:pt>
                <c:pt idx="2">
                  <c:v>72.3</c:v>
                </c:pt>
                <c:pt idx="3">
                  <c:v>61.5</c:v>
                </c:pt>
                <c:pt idx="4">
                  <c:v>52.3</c:v>
                </c:pt>
                <c:pt idx="5">
                  <c:v>44.5</c:v>
                </c:pt>
                <c:pt idx="6">
                  <c:v>37.8</c:v>
                </c:pt>
                <c:pt idx="7">
                  <c:v>32.2</c:v>
                </c:pt>
                <c:pt idx="8">
                  <c:v>27.3</c:v>
                </c:pt>
                <c:pt idx="9">
                  <c:v>23.2</c:v>
                </c:pt>
                <c:pt idx="10">
                  <c:v>19.8</c:v>
                </c:pt>
                <c:pt idx="11">
                  <c:v>16.8</c:v>
                </c:pt>
                <c:pt idx="12">
                  <c:v>14.3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95959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595959"/>
                    </a:solidFill>
                    <a:latin typeface="Arial"/>
                  </a:rPr>
                  <a:t>rodadas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9D9D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62626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262626"/>
                </a:solidFill>
                <a:latin typeface="Calibri"/>
              </a:rPr>
              <a:t>Perfil dos apostadores brasileiros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dos apostadores</c:v>
                </c:pt>
              </c:strCache>
            </c:strRef>
          </c:tx>
          <c:spPr>
            <a:solidFill>
              <a:srgbClr val="4472C4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6262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Gastam mais de R$ 1 mil por mês</c:v>
                  </c:pt>
                  <c:pt idx="1">
                    <c:v>Ganham até 2 salários mínimos</c:v>
                  </c:pt>
                  <c:pt idx="2">
                    <c:v>Se endividaram após começar a apostar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30</c:v>
                </c:pt>
                <c:pt idx="1">
                  <c:v>38.6</c:v>
                </c:pt>
                <c:pt idx="2">
                  <c:v>39.7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26262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Adolescentes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D7D31"/>
              </a:solidFill>
              <a:effectLst/>
            </c:spPr>
          </c:dPt>
          <c:dPt>
            <c:idx val="1"/>
            <c:bubble3D val="0"/>
            <c:spPr>
              <a:solidFill>
                <a:srgbClr val="D9D9D9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Já apostaram</c:v>
                </c:pt>
                <c:pt idx="1">
                  <c:v>Não apostaram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10.5</c:v>
                </c:pt>
                <c:pt idx="1">
                  <c:v>89.5</c:v>
                </c:pt>
              </c:numCache>
            </c:numRef>
          </c:val>
        </c:ser>
        <c:firstSliceAng val="0"/>
        <c:holeSize val="60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Frase de abertura sugerida: 'Hoje vamos falar de um vício que cabe no bolso: as apostas online.'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Ler a tese com calma — ela é a espinha dorsal. Os quatro slides seguintes respondem 'por quê?'.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Fonte: Banco Central / FIA-Ibevar.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Ponto-chave para a proposta de intervenção.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Ligar com a realidade da turma: quem nunca viu anúncio de bet em live, jogo ou story?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Gancho para os slides de matemática e biologia.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Ponto de matemática: valor esperado e função exponencial. Bônus: após 21 rodadas já se perdeu metade (0,968^21 ≈ 0,5 — a 'meia-vida' do dinheiro).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Leitura dos gráficos: quase 4 em cada 10 apostadores se endividaram, e o público mais pobre é o mais atingido.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Conectar com o 'por quê 2': aqui está o mecanismo biológico da doença.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Gancho do vídeo do grupo: o vídeo informativo É o 'meio' da nossa proposta — a nossa ação social na prática.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com os canais de ajuda — a apresentação não só descreve o problema, aponta a saída.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51560"/>
            <a:ext cx="8046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Desafios para combater o vício em bets no Brasil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3317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aposta em que o Brasil está perdendo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 interdisciplinar — Redação, Matemática e Biologia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6576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João Victor e Najib — Turma 3B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0690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Professores: Tiago (Matemática) • Cristina (Biologia) • Karen (Redação)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Nossa tese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88720"/>
            <a:ext cx="78638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vício em apostas online tornou-se um problema de saúde pública no Brasil</a:t>
            </a:r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pois compromete a renda das famílias, adoece mentalmente os usuários e atinge principalmente jovens de baixa renda — </a:t>
            </a:r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isso, é urgente uma intervenção do Estado e da sociedade.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063240"/>
            <a:ext cx="78638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 milhão de brasileiros já têm transtorno do jogo diagnosticável</a:t>
            </a:r>
            <a:endParaRPr lang="en-US" sz="1500" dirty="0"/>
          </a:p>
          <a:p>
            <a:pPr algn="l"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milhões apresentam comportamento de risco (Fiocruz)</a:t>
            </a:r>
            <a:endParaRPr lang="en-US" sz="1500" dirty="0"/>
          </a:p>
          <a:p>
            <a:pPr algn="l"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próximos slides: quatro motivos que sustentam essa tese, a matemática e a biologia por trás do problema, e a nossa proposta de intervenção.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 1 — Destrói a renda das famílias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78638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bets retiraram R$ 62,5 bilhões do orçamento das famílias brasileiras só em 2025 (Banco Central).</a:t>
            </a:r>
            <a:endParaRPr lang="en-US" sz="1800" dirty="0"/>
          </a:p>
          <a:p>
            <a:pPr algn="l" marL="342900" indent="-342900">
              <a:lnSpc>
                <a:spcPct val="11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Quase 40% dos apostadores se endividaram depois que começaram a apostar.</a:t>
            </a:r>
            <a:endParaRPr lang="en-US" sz="1800" dirty="0"/>
          </a:p>
          <a:p>
            <a:pPr algn="l" marL="342900" indent="-342900">
              <a:lnSpc>
                <a:spcPct val="11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maioria dos apostadores é de baixa renda: o dinheiro sai da comida, das contas e da escola.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 2 — É uma doença, não falta de caráter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78638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OMS reconhece o transtorno do jogo (ludopatia) como doença.</a:t>
            </a:r>
            <a:endParaRPr lang="en-US" sz="1800" dirty="0"/>
          </a:p>
          <a:p>
            <a:pPr algn="l" marL="342900" indent="-342900">
              <a:lnSpc>
                <a:spcPct val="11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 ansiedade, depressão, isolamento e aumenta o risco de suicídio.</a:t>
            </a:r>
            <a:endParaRPr lang="en-US" sz="1800" dirty="0"/>
          </a:p>
          <a:p>
            <a:pPr algn="l" marL="342900" indent="-342900">
              <a:lnSpc>
                <a:spcPct val="11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atendimentos por vício em jogos cresceram mais de 300% em cinco anos no Brasil (Associação Brasileira de Psiquiatria).</a:t>
            </a:r>
            <a:endParaRPr lang="en-US" sz="1800" dirty="0"/>
          </a:p>
          <a:p>
            <a:pPr algn="l" marL="342900" indent="-342900">
              <a:lnSpc>
                <a:spcPct val="11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é doença, o tratamento é dever do SUS.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 3 — Mira nos jovens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78638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Apostar é proibido para menores de 18 anos.</a:t>
            </a:r>
            <a:endParaRPr lang="en-US" sz="1800" dirty="0"/>
          </a:p>
          <a:p>
            <a:pPr algn="l" marL="342900" indent="-342900">
              <a:lnSpc>
                <a:spcPct val="11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 assim, cerca de 1 em cada 10 adolescentes de 14 a 17 anos apostou no último ano (Fiocruz).</a:t>
            </a:r>
            <a:endParaRPr lang="en-US" sz="1800" dirty="0"/>
          </a:p>
          <a:p>
            <a:pPr algn="l" marL="342900" indent="-342900">
              <a:lnSpc>
                <a:spcPct val="11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Influencers e patrocínios no futebol fazem a aposta parecer coisa normal, divertida e lucrativa.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 4 — O cassino agora mora no bolso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78638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plataformas funcionam 24 horas por dia no celular, com Pix instantâneo e bônus.</a:t>
            </a:r>
            <a:endParaRPr lang="en-US" sz="1800" dirty="0"/>
          </a:p>
          <a:p>
            <a:pPr algn="l" marL="342900" indent="-342900">
              <a:lnSpc>
                <a:spcPct val="11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Joguinhos de recompensa rápida (como o 'jogo do tigrinho') são desenhados para prender o cérebro.</a:t>
            </a:r>
            <a:endParaRPr lang="en-US" sz="1800" dirty="0"/>
          </a:p>
          <a:p>
            <a:pPr algn="l" marL="342900" indent="-342900">
              <a:lnSpc>
                <a:spcPct val="11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Diferente do cassino antigo: não tem porta, não tem horário e ninguém vê você perder.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Matemática: por que a casa sempre vence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37490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'jogo do tigrinho' devolve, em média, 96,8% do que recebe (RTP divulgado).</a:t>
            </a:r>
            <a:endParaRPr lang="en-US" sz="1450" dirty="0"/>
          </a:p>
          <a:p>
            <a:pPr algn="l"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esperado: E = 100 × 0,968 = R$ 96,80</a:t>
            </a:r>
            <a:endParaRPr lang="en-US" sz="1450" dirty="0"/>
          </a:p>
          <a:p>
            <a:pPr algn="l"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Perda média: R$ 3,20 a cada R$ 100 apostados</a:t>
            </a:r>
            <a:endParaRPr lang="en-US" sz="1450" dirty="0"/>
          </a:p>
          <a:p>
            <a:pPr algn="l"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Reapostando tudo n vezes: E(n) = 100 × 0,968ⁿ (função exponencial decrescente).</a:t>
            </a:r>
            <a:endParaRPr lang="en-US" sz="1450" dirty="0"/>
          </a:p>
          <a:p>
            <a:pPr algn="l"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azar — jogando o suficiente, a perda é matemática.</a:t>
            </a:r>
            <a:endParaRPr lang="en-US" sz="145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480560" y="1234440"/>
          <a:ext cx="420624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vício em números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1280160"/>
          <a:ext cx="530352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2519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FIA Business School / Ibevar (2025)</a:t>
            </a:r>
            <a:endParaRPr lang="en-US" sz="1000" dirty="0"/>
          </a:p>
        </p:txBody>
      </p:sp>
      <p:graphicFrame>
        <p:nvGraphicFramePr>
          <p:cNvPr id="5" name="Chart 1" descr=""/>
          <p:cNvGraphicFramePr/>
          <p:nvPr/>
        </p:nvGraphicFramePr>
        <p:xfrm>
          <a:off x="5989320" y="1325880"/>
          <a:ext cx="246888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989320" y="221284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D7D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10,5%</a:t>
            </a:r>
            <a:endParaRPr lang="en-US" sz="2600" dirty="0"/>
          </a:p>
        </p:txBody>
      </p:sp>
      <p:sp>
        <p:nvSpPr>
          <p:cNvPr id="7" name="Text 3"/>
          <p:cNvSpPr txBox="1"/>
          <p:nvPr/>
        </p:nvSpPr>
        <p:spPr>
          <a:xfrm>
            <a:off x="5760720" y="388620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adolescentes de 14 a 17 anos apostaram no último ano, mesmo sendo proibido (Fiocruz)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Biologia: o que a aposta faz no cérebro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25880"/>
            <a:ext cx="78638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 e recompensa: </a:t>
            </a:r>
            <a:endParaRPr lang="en-US" sz="1700" dirty="0"/>
          </a:p>
          <a:p>
            <a:pPr algn="l"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aposta libera dopamina no circuito de recompensa (núcleo accumbens). Recompensa imprevisível libera MAIS dopamina que recompensa certa — por isso o 'quase ganhei' vicia tanto quanto ganhar.</a:t>
            </a:r>
            <a:endParaRPr lang="en-US" sz="1700" dirty="0"/>
          </a:p>
          <a:p>
            <a:pPr algn="l"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Tolerância — o mesmo mecanismo das drogas: </a:t>
            </a:r>
            <a:endParaRPr lang="en-US" sz="1700" dirty="0"/>
          </a:p>
          <a:p>
            <a:pPr algn="l"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a repetição, o cérebro reduz a sensibilidade dos receptores de dopamina: é preciso apostar mais para sentir o mesmo prazer (CID-11, OMS).</a:t>
            </a:r>
            <a:endParaRPr lang="en-US" sz="1700" dirty="0"/>
          </a:p>
          <a:p>
            <a:pPr algn="l"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 adolescente é mais vulnerável: </a:t>
            </a:r>
            <a:endParaRPr lang="en-US" sz="1700" dirty="0"/>
          </a:p>
          <a:p>
            <a:pPr algn="l"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córtex pré-frontal, que freia impulsos e avalia riscos, só amadurece por volta dos 25 anos.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 de intervenção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234440"/>
          <a:ext cx="78638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61264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Elemento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propomos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Ministério da Saúde e escolas, em parceria com as prefeituras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Ação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nacional de conscientização + ampliação do tratamento gratuito nos CAPS/SUS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Meio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Vídeos informativos nas redes sociais, palestras nas escolas e divulgação dos canais de ajuda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Finalidade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Reduzir o número de viciados e proteger os jovens antes da primeira aposta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Detalhamento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Restringir a publicidade de bets (como foi feito com o cigarro), criar cadastro nacional de autoexclusão e verificação real de idade no cadastro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Conclusão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88720"/>
            <a:ext cx="7863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casa não precisa vencer sempre. </a:t>
            </a:r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Vício em aposta é doença, tem tratamento gratuito no SUS e ninguém deve enfrentar isso sozinho. Por isso, nosso grupo também produziu um vídeo ensinando a identificar e combater o vício em bets.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788920"/>
            <a:ext cx="7863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buscar ajuda: CAPS (SUS), Jogadores Anônimos e CVV — ligue 188 (24h, gratuito)</a:t>
            </a:r>
            <a:endParaRPr lang="en-US" sz="1500" dirty="0"/>
          </a:p>
          <a:p>
            <a:pPr algn="l"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Sinais de alerta: apostar escondido, apostar para recuperar perdas, usar dinheiro de contas, irritação ao tentar parar.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1148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Fontes: Fiocruz (Radis) • Agência Brasil / Ministério da Saúde • Associação Brasileira de Psiquiatria • Banco Central • FIA Business School / Ibevar • Associação Médica Brasileira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2026-09-08T22:01:38Z</dcterms:created>
  <dcterms:modified xsi:type="dcterms:W3CDTF">2026-09-08T22:01:39Z</dcterms:modified>
</cp:coreProperties>
</file>