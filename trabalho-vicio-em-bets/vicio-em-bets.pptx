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9BA7B4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9BA7B4"/>
                </a:solidFill>
                <a:latin typeface="Calibri"/>
              </a:rPr>
              <a:t>R$ 100 reapostados: quanto sobra após n rodadas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Dinheiro esperado (R$)</c:v>
                </c:pt>
              </c:strCache>
            </c:strRef>
          </c:tx>
          <c:spPr>
            <a:solidFill>
              <a:srgbClr val="F85149"/>
            </a:solidFill>
            <a:ln w="31750" cap="flat">
              <a:solidFill>
                <a:srgbClr val="F8514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F85149"/>
              </a:solidFill>
              <a:ln w="9525" cap="flat">
                <a:solidFill>
                  <a:srgbClr val="F8514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85</c:v>
                </c:pt>
                <c:pt idx="2">
                  <c:v>72.3</c:v>
                </c:pt>
                <c:pt idx="3">
                  <c:v>61.5</c:v>
                </c:pt>
                <c:pt idx="4">
                  <c:v>52.3</c:v>
                </c:pt>
                <c:pt idx="5">
                  <c:v>44.5</c:v>
                </c:pt>
                <c:pt idx="6">
                  <c:v>37.8</c:v>
                </c:pt>
                <c:pt idx="7">
                  <c:v>32.2</c:v>
                </c:pt>
                <c:pt idx="8">
                  <c:v>27.3</c:v>
                </c:pt>
                <c:pt idx="9">
                  <c:v>23.2</c:v>
                </c:pt>
                <c:pt idx="10">
                  <c:v>19.8</c:v>
                </c:pt>
                <c:pt idx="11">
                  <c:v>16.8</c:v>
                </c:pt>
                <c:pt idx="12">
                  <c:v>14.3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9BA7B4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9BA7B4"/>
                    </a:solidFill>
                    <a:latin typeface="Arial"/>
                  </a:rPr>
                  <a:t>rodadas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BA7B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2A32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BA7B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9BA7B4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9BA7B4"/>
                </a:solidFill>
                <a:latin typeface="Calibri"/>
              </a:rPr>
              <a:t>Perfil dos apostadores brasileiros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dos apostadores</c:v>
                </c:pt>
              </c:strCache>
            </c:strRef>
          </c:tx>
          <c:spPr>
            <a:solidFill>
              <a:srgbClr val="E3B34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0F6F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Gastam mais de R$ 1 mil por mês</c:v>
                  </c:pt>
                  <c:pt idx="1">
                    <c:v>Ganham até 2 salários mínimos</c:v>
                  </c:pt>
                  <c:pt idx="2">
                    <c:v>Se endividaram após começar a apostar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38.6</c:v>
                </c:pt>
                <c:pt idx="2">
                  <c:v>39.7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F0F6F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F0F6F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Adolescentes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85149"/>
              </a:solidFill>
              <a:effectLst/>
            </c:spPr>
          </c:dPt>
          <c:dPt>
            <c:idx val="1"/>
            <c:bubble3D val="0"/>
            <c:spPr>
              <a:solidFill>
                <a:srgbClr val="2A3240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Já apostaram</c:v>
                </c:pt>
                <c:pt idx="1">
                  <c:v>Não apostaram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10.5</c:v>
                </c:pt>
                <c:pt idx="1">
                  <c:v>89.5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capa. Troquem o campo de nomes/turma. Frase de abertura sugerida: 'Hoje vamos falar de um vício que cabe no bolso: as apostas online.'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 a tese com calma — ela é a espinha dorsal da apresentação. Os quatro slides seguintes respondem 'por quê?' a essa tese.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Reforçar: esse dinheiro deixa de ir para comida, contas e escola. Fonte: Banco Central / FIA-Ibevar.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Ponto-chave para a proposta de intervenção: se é doença, o tratamento é dever do SUS.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Ligar com a realidade da turma: quem nunca viu anúncio de bet em live, jogo ou story?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Diferença para o cassino antigo: não tem porta, não tem horário e não tem ninguém vendo você perder.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de matemática: valor esperado e função exponencial. Se der tempo, mostrar que após 21 rodadas já se perdeu metade (0,968^21 ≈ 0,5 — meia-vida do dinheiro).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Leitura de gráfico de barras e de setores — pontue: quase 4 em cada 10 apostadores se endividaram, e o público mais pobre é o mais atingido.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de biologia: dopamina, reforço intermitente, tolerância e maturação do córtex pré-frontal. Conectar com o slide 4 ('é doença'): aqui está o mecanismo da doença.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entra o gancho do vídeo do grupo: o vídeo informativo É o 'meio' da nossa proposta — a nossa ação social na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os canais de ajuda — isso mostra que a apresentação não só descreve o problema, mas aponta a saída.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6492240" y="1371600"/>
            <a:ext cx="2103120" cy="21031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41732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VÍCIO EM BETS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395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aposta em que o Brasil está perdendo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063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Redação: tese e intervenção  •  Matemática: os números  •  Biologia: o cérebro no vício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343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[Nomes dos integrantes]  —  [Turma]  — 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NOSSA TESE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4846320" cy="3474720"/>
          </a:xfrm>
          <a:prstGeom prst="roundRect">
            <a:avLst>
              <a:gd name="adj" fmla="val 3158"/>
            </a:avLst>
          </a:prstGeom>
          <a:solidFill>
            <a:srgbClr val="161C2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417320"/>
            <a:ext cx="4297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vício em apostas online tornou-se um problema de saúde pública no Brasil</a:t>
            </a:r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pois compromete a renda das famílias, adoece mentalmente os usuários e atinge principalmente jovens de baixa renda — </a:t>
            </a:r>
            <a:pPr algn="l"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exigindo uma intervenção urgente do Estado e da sociedade.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669280" y="1325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 mi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221284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brasileiros já têm transtorno do jogo diagnosticável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3063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mi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385876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apresentam comportamento de risco (Fiocruz)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QUÊ?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destrói a renda das famílias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914400" cy="914400"/>
          </a:xfrm>
          <a:prstGeom prst="ellipse">
            <a:avLst/>
          </a:prstGeom>
          <a:solidFill>
            <a:srgbClr val="1C24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20370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28800" y="1874520"/>
            <a:ext cx="4206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bets retiraram R$ 62,5 bilhões do orçamento das famílias brasileiras só em 2025. Quase 40% dos apostadores se endividaram depois que começaram a apostar — e a maioria é de baixa renda.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6309360" y="1874520"/>
            <a:ext cx="2286000" cy="2651760"/>
          </a:xfrm>
          <a:prstGeom prst="roundRect">
            <a:avLst>
              <a:gd name="adj" fmla="val 4800"/>
            </a:avLst>
          </a:prstGeom>
          <a:solidFill>
            <a:srgbClr val="161C2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55080" y="2331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R$ 62,5 bi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446520" y="329184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drenados das famílias em 2025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138160" y="384048"/>
            <a:ext cx="502920" cy="50292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138160" y="384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QUÊ?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é uma doença, não falta de caráter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914400" cy="914400"/>
          </a:xfrm>
          <a:prstGeom prst="ellipse">
            <a:avLst/>
          </a:prstGeom>
          <a:solidFill>
            <a:srgbClr val="1C24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20370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28800" y="1874520"/>
            <a:ext cx="4206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OMS reconhece o transtorno do jogo (ludopatia) como doença. Ele causa ansiedade, depressão, isolamento e aumenta o risco de suicídio. Os atendimentos por vício em jogos cresceram mais de 300% em cinco anos no Brasil.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6309360" y="1874520"/>
            <a:ext cx="2286000" cy="2651760"/>
          </a:xfrm>
          <a:prstGeom prst="roundRect">
            <a:avLst>
              <a:gd name="adj" fmla="val 4800"/>
            </a:avLst>
          </a:prstGeom>
          <a:solidFill>
            <a:srgbClr val="161C2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55080" y="2331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+300%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6446520" y="329184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atendimentos por vício em jogo em 5 anos (ABP)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138160" y="384048"/>
            <a:ext cx="502920" cy="50292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138160" y="384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QUÊ?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mira nos jovens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914400" cy="914400"/>
          </a:xfrm>
          <a:prstGeom prst="ellipse">
            <a:avLst/>
          </a:prstGeom>
          <a:solidFill>
            <a:srgbClr val="1C24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20370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28800" y="1874520"/>
            <a:ext cx="4206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Apostar é proibido para menores de 18 anos — mesmo assim, cerca de 10% dos adolescentes de 14 a 17 anos apostaram no último ano. Influencers e patrocínios no futebol fazem a aposta parecer coisa normal, divertida e lucrativa.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6309360" y="1874520"/>
            <a:ext cx="2286000" cy="2651760"/>
          </a:xfrm>
          <a:prstGeom prst="roundRect">
            <a:avLst>
              <a:gd name="adj" fmla="val 4800"/>
            </a:avLst>
          </a:prstGeom>
          <a:solidFill>
            <a:srgbClr val="161C2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55080" y="2331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em cada 10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446520" y="329184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adolescentes já apostou, mesmo sendo proibido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138160" y="384048"/>
            <a:ext cx="502920" cy="50292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138160" y="384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QUÊ?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o cassino agora mora no bolso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914400" cy="914400"/>
          </a:xfrm>
          <a:prstGeom prst="ellipse">
            <a:avLst/>
          </a:prstGeom>
          <a:solidFill>
            <a:srgbClr val="1C24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20370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28800" y="1874520"/>
            <a:ext cx="4206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plataformas funcionam 24 horas por dia no celular, com Pix instantâneo, bônus e joguinhos de recompensa rápida (como o 'jogo do tigrinho') desenhados para prender o cérebro — o mesmo mecanismo de outras dependências.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6309360" y="1874520"/>
            <a:ext cx="2286000" cy="2651760"/>
          </a:xfrm>
          <a:prstGeom prst="roundRect">
            <a:avLst>
              <a:gd name="adj" fmla="val 4800"/>
            </a:avLst>
          </a:prstGeom>
          <a:solidFill>
            <a:srgbClr val="161C2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55080" y="2331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24h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6446520" y="329184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acesso ilimitado, sem sair de casa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138160" y="384048"/>
            <a:ext cx="502920" cy="50292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138160" y="384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casa sempre vence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3246120" cy="3200400"/>
          </a:xfrm>
          <a:prstGeom prst="roundRect">
            <a:avLst>
              <a:gd name="adj" fmla="val 3429"/>
            </a:avLst>
          </a:prstGeom>
          <a:solidFill>
            <a:srgbClr val="161C2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278892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ESPERADO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'jogo do tigrinho' devolve, em média, 96,8% do que recebe (RTP divulgado).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cada R$ 100 apostados:
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= 100 × 0,968 = R$ 96,80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 média: R$ 3,20 por rodada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Reapostando tudo n vezes:
</a:t>
            </a:r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E(n) = 100 × 0,968ⁿ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114800" y="1417320"/>
          <a:ext cx="448056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114800" y="44805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azar: é uma função exponencial decrescente. Jogando o suficiente, a perda é matemática.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vício em números</a:t>
            </a:r>
            <a:endParaRPr lang="en-US" sz="2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463040"/>
          <a:ext cx="52120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4343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FIA Business School / Ibevar (2025)</a:t>
            </a:r>
            <a:endParaRPr lang="en-US" sz="1000" dirty="0"/>
          </a:p>
        </p:txBody>
      </p:sp>
      <p:graphicFrame>
        <p:nvGraphicFramePr>
          <p:cNvPr id="6" name="Chart 1" descr=""/>
          <p:cNvGraphicFramePr/>
          <p:nvPr/>
        </p:nvGraphicFramePr>
        <p:xfrm>
          <a:off x="5943600" y="1417320"/>
          <a:ext cx="26517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943600" y="23774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10,5%</a:t>
            </a:r>
            <a:endParaRPr lang="en-US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5806440" y="41148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adolescentes de 14 a 17 anos apostaram no último ano — mesmo sendo proibido (Fiocruz)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BIOLOGIA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aposta faz no cérebro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7863840" cy="987552"/>
          </a:xfrm>
          <a:prstGeom prst="roundRect">
            <a:avLst>
              <a:gd name="adj" fmla="val 9259"/>
            </a:avLst>
          </a:prstGeom>
          <a:solidFill>
            <a:srgbClr val="161C26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700784"/>
            <a:ext cx="512064" cy="512064"/>
          </a:xfrm>
          <a:prstGeom prst="ellipse">
            <a:avLst/>
          </a:prstGeom>
          <a:solidFill>
            <a:srgbClr val="1C243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809" y="1833921"/>
            <a:ext cx="245791" cy="24579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81328" y="1536192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 e o circuito de recompensa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aposta libera dopamina no sistema de recompensa (núcleo accumbens). Recompensa IMPREVISÍVEL libera mais dopamina do que recompensa certa — por isso o 'quase ganhei' vicia tanto quanto ganhar.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578608"/>
            <a:ext cx="7863840" cy="987552"/>
          </a:xfrm>
          <a:prstGeom prst="roundRect">
            <a:avLst>
              <a:gd name="adj" fmla="val 9259"/>
            </a:avLst>
          </a:prstGeom>
          <a:solidFill>
            <a:srgbClr val="161C26"/>
          </a:solidFill>
          <a:ln/>
        </p:spPr>
      </p:sp>
      <p:sp>
        <p:nvSpPr>
          <p:cNvPr id="9" name="Shape 6"/>
          <p:cNvSpPr/>
          <p:nvPr/>
        </p:nvSpPr>
        <p:spPr>
          <a:xfrm>
            <a:off x="804672" y="2816352"/>
            <a:ext cx="512064" cy="512064"/>
          </a:xfrm>
          <a:prstGeom prst="ellipse">
            <a:avLst/>
          </a:prstGeom>
          <a:solidFill>
            <a:srgbClr val="1C243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809" y="2949489"/>
            <a:ext cx="245791" cy="24579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81328" y="265176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Tolerância: o mesmo mecanismo das drogas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repetição, o cérebro reduz a sensibilidade dos receptores de dopamina. Resultado: é preciso apostar mais, e mais alto, para sentir o mesmo prazer — a definição biológica de dependência (CID-11, OMS).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3694176"/>
            <a:ext cx="7863840" cy="987552"/>
          </a:xfrm>
          <a:prstGeom prst="roundRect">
            <a:avLst>
              <a:gd name="adj" fmla="val 9259"/>
            </a:avLst>
          </a:prstGeom>
          <a:solidFill>
            <a:srgbClr val="161C26"/>
          </a:solidFill>
          <a:ln/>
        </p:spPr>
      </p:sp>
      <p:sp>
        <p:nvSpPr>
          <p:cNvPr id="13" name="Shape 9"/>
          <p:cNvSpPr/>
          <p:nvPr/>
        </p:nvSpPr>
        <p:spPr>
          <a:xfrm>
            <a:off x="804672" y="3931920"/>
            <a:ext cx="512064" cy="512064"/>
          </a:xfrm>
          <a:prstGeom prst="ellipse">
            <a:avLst/>
          </a:prstGeom>
          <a:solidFill>
            <a:srgbClr val="1C2431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809" y="4065057"/>
            <a:ext cx="245791" cy="24579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81328" y="3767328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adolescente é mais vulnerável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córtex pré-frontal — a área que freia impulsos e avalia riscos — só termina de amadurecer por volta dos 25 anos. Cérebro em formação + app desenhado para viciar é uma disputa desleal.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DE INTERVENÇÃO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43000"/>
            <a:ext cx="1938528" cy="2331720"/>
          </a:xfrm>
          <a:prstGeom prst="roundRect">
            <a:avLst>
              <a:gd name="adj" fmla="val 4717"/>
            </a:avLst>
          </a:prstGeom>
          <a:solidFill>
            <a:srgbClr val="161C26"/>
          </a:solidFill>
          <a:ln/>
        </p:spPr>
      </p:sp>
      <p:sp>
        <p:nvSpPr>
          <p:cNvPr id="4" name="Shape 2"/>
          <p:cNvSpPr/>
          <p:nvPr/>
        </p:nvSpPr>
        <p:spPr>
          <a:xfrm>
            <a:off x="804672" y="1307592"/>
            <a:ext cx="502920" cy="502920"/>
          </a:xfrm>
          <a:prstGeom prst="ellipse">
            <a:avLst/>
          </a:prstGeom>
          <a:solidFill>
            <a:srgbClr val="1C24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431" y="1438351"/>
            <a:ext cx="241402" cy="2414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192024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04672" y="224028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Ministério da Saúde e escolas, em parceria com as prefeituras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2779776" y="1143000"/>
            <a:ext cx="1938528" cy="2331720"/>
          </a:xfrm>
          <a:prstGeom prst="roundRect">
            <a:avLst>
              <a:gd name="adj" fmla="val 4717"/>
            </a:avLst>
          </a:prstGeom>
          <a:solidFill>
            <a:srgbClr val="161C26"/>
          </a:solidFill>
          <a:ln/>
        </p:spPr>
      </p:sp>
      <p:sp>
        <p:nvSpPr>
          <p:cNvPr id="9" name="Shape 6"/>
          <p:cNvSpPr/>
          <p:nvPr/>
        </p:nvSpPr>
        <p:spPr>
          <a:xfrm>
            <a:off x="2944368" y="1307592"/>
            <a:ext cx="502920" cy="502920"/>
          </a:xfrm>
          <a:prstGeom prst="ellipse">
            <a:avLst/>
          </a:prstGeom>
          <a:solidFill>
            <a:srgbClr val="1C243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5127" y="1438351"/>
            <a:ext cx="241402" cy="24140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44368" y="192024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2944368" y="224028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nacional de conscientização + ampliação do tratamento gratuito nos CAPS/SUS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919472" y="1143000"/>
            <a:ext cx="1938528" cy="2331720"/>
          </a:xfrm>
          <a:prstGeom prst="roundRect">
            <a:avLst>
              <a:gd name="adj" fmla="val 4717"/>
            </a:avLst>
          </a:prstGeom>
          <a:solidFill>
            <a:srgbClr val="161C26"/>
          </a:solidFill>
          <a:ln/>
        </p:spPr>
      </p:sp>
      <p:sp>
        <p:nvSpPr>
          <p:cNvPr id="14" name="Shape 10"/>
          <p:cNvSpPr/>
          <p:nvPr/>
        </p:nvSpPr>
        <p:spPr>
          <a:xfrm>
            <a:off x="5084064" y="1307592"/>
            <a:ext cx="502920" cy="502920"/>
          </a:xfrm>
          <a:prstGeom prst="ellipse">
            <a:avLst/>
          </a:prstGeom>
          <a:solidFill>
            <a:srgbClr val="1C243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4823" y="1438351"/>
            <a:ext cx="241402" cy="24140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084064" y="192024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MEIO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084064" y="224028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 informativos nas redes sociais, palestras nas escolas e divulgação dos canais de ajuda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7059168" y="1143000"/>
            <a:ext cx="1938528" cy="2331720"/>
          </a:xfrm>
          <a:prstGeom prst="roundRect">
            <a:avLst>
              <a:gd name="adj" fmla="val 4717"/>
            </a:avLst>
          </a:prstGeom>
          <a:solidFill>
            <a:srgbClr val="161C26"/>
          </a:solidFill>
          <a:ln/>
        </p:spPr>
      </p:sp>
      <p:sp>
        <p:nvSpPr>
          <p:cNvPr id="19" name="Shape 14"/>
          <p:cNvSpPr/>
          <p:nvPr/>
        </p:nvSpPr>
        <p:spPr>
          <a:xfrm>
            <a:off x="7223760" y="1307592"/>
            <a:ext cx="502920" cy="502920"/>
          </a:xfrm>
          <a:prstGeom prst="ellipse">
            <a:avLst/>
          </a:prstGeom>
          <a:solidFill>
            <a:srgbClr val="1C2431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4519" y="1438351"/>
            <a:ext cx="241402" cy="24140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23760" y="192024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FINALIDADE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223760" y="224028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o número de viciados e proteger os jovens antes da primeira aposta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40080" y="3703320"/>
            <a:ext cx="7863840" cy="1005840"/>
          </a:xfrm>
          <a:prstGeom prst="roundRect">
            <a:avLst>
              <a:gd name="adj" fmla="val 9091"/>
            </a:avLst>
          </a:prstGeom>
          <a:solidFill>
            <a:srgbClr val="1C2431"/>
          </a:solidFill>
          <a:ln/>
        </p:spPr>
      </p:sp>
      <p:sp>
        <p:nvSpPr>
          <p:cNvPr id="24" name="Shape 18"/>
          <p:cNvSpPr/>
          <p:nvPr/>
        </p:nvSpPr>
        <p:spPr>
          <a:xfrm>
            <a:off x="822960" y="3950208"/>
            <a:ext cx="502920" cy="502920"/>
          </a:xfrm>
          <a:prstGeom prst="ellipse">
            <a:avLst/>
          </a:prstGeom>
          <a:solidFill>
            <a:srgbClr val="161C26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3719" y="4080967"/>
            <a:ext cx="241402" cy="24140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94760"/>
            <a:ext cx="6812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DETALHAMENTO: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restringir a publicidade de bets (como já foi feito com o cigarro), criar cadastro nacional de autoexclusão e bloquear o cadastro de menores com verificação real de identidade.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777240" cy="777240"/>
          </a:xfrm>
          <a:prstGeom prst="ellipse">
            <a:avLst/>
          </a:prstGeom>
          <a:solidFill>
            <a:srgbClr val="1C243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162" y="659282"/>
            <a:ext cx="373075" cy="37307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45920" y="566928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CASA NÃO PRECISA VENCER SEMPRE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463040"/>
            <a:ext cx="7863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Vício em aposta é doença, tem tratamento gratuito no SUS/CAPS e ninguém deve enfrentar isso sozinho. Informação é a melhor aposta: por isso nosso grupo também produziu um vídeo ensinando como identificar e combater o vício em bets.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2651760"/>
            <a:ext cx="3840480" cy="1051560"/>
          </a:xfrm>
          <a:prstGeom prst="roundRect">
            <a:avLst>
              <a:gd name="adj" fmla="val 8696"/>
            </a:avLst>
          </a:prstGeom>
          <a:solidFill>
            <a:srgbClr val="161C2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27432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BUSCAR AJUDA
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 (SUS) • Jogadores Anônimos • CVV: ligue 188 (24h, gratuito)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63440" y="2651760"/>
            <a:ext cx="3840480" cy="1051560"/>
          </a:xfrm>
          <a:prstGeom prst="roundRect">
            <a:avLst>
              <a:gd name="adj" fmla="val 8696"/>
            </a:avLst>
          </a:prstGeom>
          <a:solidFill>
            <a:srgbClr val="161C2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846320" y="27432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ALERTA
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Apostar escondido • apostar para recuperar perdas • usar dinheiro de contas • irritação ao tentar parar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1605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B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Fiocruz (Radis) • Agência Brasil / Ministério da Saúde • Associação Brasileira de Psiquiatria • Banco Central • FIA Business School / Ibevar • Associação Médica Brasileira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2026-09-08T21:39:56Z</dcterms:created>
  <dcterms:modified xsi:type="dcterms:W3CDTF">2026-09-08T21:39:56Z</dcterms:modified>
</cp:coreProperties>
</file>